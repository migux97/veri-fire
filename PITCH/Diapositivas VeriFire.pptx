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Nunito ExtraBold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ExtraBold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NunitoExtraBold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slide" Target="slides/slide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2.xml"/><Relationship Id="rId18" Type="http://schemas.openxmlformats.org/officeDocument/2006/relationships/font" Target="fonts/Nuni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447aaadc0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447aaadc0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47aaadc0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447aaadc0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47aaadc0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47aaadc0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47aaadc0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47aaadc0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47aaadc0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47aaadc0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47aaadc00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47aaadc00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4626d4fcac2c62b0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4626d4fcac2c62b0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4626d4fcac2c62b0_1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4626d4fcac2c62b0_1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47aaadc00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447aaadc00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48013f7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48013f7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208e2edbe4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208e2edbe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4626d4fcac2c62b0_37_0)">
  <p:cSld name="Generated (h4626d4fcac2c62b0_3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verifire-solana.cosmosapp.lat/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2604450" y="3099050"/>
            <a:ext cx="393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Sistema de </a:t>
            </a:r>
            <a:r>
              <a:rPr b="1" lang="es-419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antipiratería y autentificación de productos </a:t>
            </a:r>
            <a:r>
              <a:rPr b="1" lang="es-419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1573600" y="1518775"/>
            <a:ext cx="5838600" cy="1524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4"/>
          <p:cNvPicPr preferRelativeResize="0"/>
          <p:nvPr/>
        </p:nvPicPr>
        <p:blipFill rotWithShape="1">
          <a:blip r:embed="rId3">
            <a:alphaModFix/>
          </a:blip>
          <a:srcRect b="24824" l="2723" r="4650" t="17446"/>
          <a:stretch/>
        </p:blipFill>
        <p:spPr>
          <a:xfrm>
            <a:off x="1573600" y="1573975"/>
            <a:ext cx="5996826" cy="14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15"/>
          <p:cNvGrpSpPr/>
          <p:nvPr/>
        </p:nvGrpSpPr>
        <p:grpSpPr>
          <a:xfrm>
            <a:off x="762000" y="476250"/>
            <a:ext cx="1047900" cy="266700"/>
            <a:chOff x="0" y="0"/>
            <a:chExt cx="1047900" cy="266700"/>
          </a:xfrm>
        </p:grpSpPr>
        <p:sp>
          <p:nvSpPr>
            <p:cNvPr id="63" name="Google Shape;63;p15"/>
            <p:cNvSpPr/>
            <p:nvPr/>
          </p:nvSpPr>
          <p:spPr>
            <a:xfrm>
              <a:off x="0" y="0"/>
              <a:ext cx="1047900" cy="266700"/>
            </a:xfrm>
            <a:prstGeom prst="roundRect">
              <a:avLst>
                <a:gd fmla="val 50000" name="adj"/>
              </a:avLst>
            </a:prstGeom>
            <a:solidFill>
              <a:srgbClr val="1E0F12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5"/>
            <p:cNvSpPr txBox="1"/>
            <p:nvPr/>
          </p:nvSpPr>
          <p:spPr>
            <a:xfrm>
              <a:off x="0" y="0"/>
              <a:ext cx="1047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FF3B4B"/>
                  </a:solidFill>
                  <a:latin typeface="Nunito"/>
                  <a:ea typeface="Nunito"/>
                  <a:cs typeface="Nunito"/>
                  <a:sym typeface="Nunito"/>
                </a:rPr>
                <a:t>PROBLEMA</a:t>
              </a:r>
              <a:endParaRPr b="1" sz="900">
                <a:solidFill>
                  <a:srgbClr val="FF3B4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65" name="Google Shape;65;p15"/>
          <p:cNvSpPr txBox="1"/>
          <p:nvPr/>
        </p:nvSpPr>
        <p:spPr>
          <a:xfrm>
            <a:off x="762000" y="666375"/>
            <a:ext cx="4119600" cy="3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7200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+$500B</a:t>
            </a:r>
            <a:endParaRPr b="0" sz="7200">
              <a:solidFill>
                <a:srgbClr val="FFFFFF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FF3B4B"/>
                </a:solidFill>
                <a:latin typeface="Nunito"/>
                <a:ea typeface="Nunito"/>
                <a:cs typeface="Nunito"/>
                <a:sym typeface="Nunito"/>
              </a:rPr>
              <a:t>ANUALES A NIVEL GLOBAL</a:t>
            </a:r>
            <a:endParaRPr b="1" sz="1800">
              <a:solidFill>
                <a:srgbClr val="FF3B4B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lang="es-419" sz="12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El mercado ilícito de falsificaciones mueve volúmenes masivos de dinero, afectando economías globales y cadenas de suministro.</a:t>
            </a:r>
            <a:endParaRPr b="0" sz="1200">
              <a:solidFill>
                <a:srgbClr val="A0A0A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4333875"/>
            <a:ext cx="595200" cy="7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4808475" y="4576425"/>
            <a:ext cx="38100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71717A"/>
                </a:solidFill>
                <a:latin typeface="Nunito"/>
                <a:ea typeface="Nunito"/>
                <a:cs typeface="Nunito"/>
                <a:sym typeface="Nunito"/>
              </a:rPr>
              <a:t>Fuentes: OCDE / EUIPO – </a:t>
            </a:r>
            <a:r>
              <a:rPr b="1" lang="es-419" sz="1100">
                <a:solidFill>
                  <a:srgbClr val="71717A"/>
                </a:solidFill>
                <a:latin typeface="Nunito"/>
                <a:ea typeface="Nunito"/>
                <a:cs typeface="Nunito"/>
                <a:sym typeface="Nunito"/>
              </a:rPr>
              <a:t>Trends in Trade in Counterfeit and Pirated Goods</a:t>
            </a:r>
            <a:r>
              <a:rPr lang="es-419" sz="1100">
                <a:solidFill>
                  <a:srgbClr val="71717A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1100">
              <a:solidFill>
                <a:srgbClr val="71717A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714123">
            <a:off x="5038403" y="998177"/>
            <a:ext cx="1614670" cy="239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4464">
            <a:off x="6921602" y="1685125"/>
            <a:ext cx="1739975" cy="177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6"/>
          <p:cNvGrpSpPr/>
          <p:nvPr/>
        </p:nvGrpSpPr>
        <p:grpSpPr>
          <a:xfrm>
            <a:off x="571500" y="457200"/>
            <a:ext cx="1295400" cy="285900"/>
            <a:chOff x="0" y="0"/>
            <a:chExt cx="1295400" cy="285900"/>
          </a:xfrm>
        </p:grpSpPr>
        <p:sp>
          <p:nvSpPr>
            <p:cNvPr id="75" name="Google Shape;75;p16"/>
            <p:cNvSpPr/>
            <p:nvPr/>
          </p:nvSpPr>
          <p:spPr>
            <a:xfrm>
              <a:off x="0" y="0"/>
              <a:ext cx="1295400" cy="285900"/>
            </a:xfrm>
            <a:prstGeom prst="roundRect">
              <a:avLst>
                <a:gd fmla="val 50000" name="adj"/>
              </a:avLst>
            </a:prstGeom>
            <a:solidFill>
              <a:srgbClr val="1F1115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6"/>
            <p:cNvSpPr txBox="1"/>
            <p:nvPr/>
          </p:nvSpPr>
          <p:spPr>
            <a:xfrm>
              <a:off x="0" y="0"/>
              <a:ext cx="129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NUESTRA SOLUCIÓN</a:t>
              </a:r>
              <a:endParaRPr b="0" sz="90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</p:grpSp>
      <p:sp>
        <p:nvSpPr>
          <p:cNvPr id="77" name="Google Shape;77;p16"/>
          <p:cNvSpPr txBox="1"/>
          <p:nvPr/>
        </p:nvSpPr>
        <p:spPr>
          <a:xfrm>
            <a:off x="571500" y="1418300"/>
            <a:ext cx="3719100" cy="25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2800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La Tokenización de productos</a:t>
            </a:r>
            <a:endParaRPr b="0" sz="2800">
              <a:solidFill>
                <a:srgbClr val="FFFFFF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22C55E"/>
                </a:solidFill>
                <a:latin typeface="Nunito"/>
                <a:ea typeface="Nunito"/>
                <a:cs typeface="Nunito"/>
                <a:sym typeface="Nunito"/>
              </a:rPr>
              <a:t>Identidad única para cada artículo</a:t>
            </a:r>
            <a:endParaRPr b="1" sz="1600">
              <a:solidFill>
                <a:srgbClr val="22C55E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419" sz="15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Vincule sus activos físicos con tokens digitales infalsificables respaldados por la red Solana.</a:t>
            </a:r>
            <a:endParaRPr b="0" sz="1500">
              <a:solidFill>
                <a:srgbClr val="A0A0A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4">
            <a:alphaModFix/>
          </a:blip>
          <a:srcRect b="357" l="0" r="0" t="357"/>
          <a:stretch/>
        </p:blipFill>
        <p:spPr>
          <a:xfrm>
            <a:off x="4476750" y="333375"/>
            <a:ext cx="3238500" cy="44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5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1542550" y="598475"/>
            <a:ext cx="456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7"/>
          <p:cNvGrpSpPr/>
          <p:nvPr/>
        </p:nvGrpSpPr>
        <p:grpSpPr>
          <a:xfrm>
            <a:off x="571500" y="457200"/>
            <a:ext cx="1295400" cy="285900"/>
            <a:chOff x="0" y="0"/>
            <a:chExt cx="1295400" cy="285900"/>
          </a:xfrm>
        </p:grpSpPr>
        <p:sp>
          <p:nvSpPr>
            <p:cNvPr id="86" name="Google Shape;86;p17"/>
            <p:cNvSpPr/>
            <p:nvPr/>
          </p:nvSpPr>
          <p:spPr>
            <a:xfrm>
              <a:off x="0" y="0"/>
              <a:ext cx="1295400" cy="285900"/>
            </a:xfrm>
            <a:prstGeom prst="roundRect">
              <a:avLst>
                <a:gd fmla="val 50000" name="adj"/>
              </a:avLst>
            </a:prstGeom>
            <a:solidFill>
              <a:srgbClr val="1F1115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7"/>
            <p:cNvSpPr txBox="1"/>
            <p:nvPr/>
          </p:nvSpPr>
          <p:spPr>
            <a:xfrm>
              <a:off x="0" y="0"/>
              <a:ext cx="129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NUESTRA SOLUCIÓN</a:t>
              </a:r>
              <a:endParaRPr b="0" sz="90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</p:grpSp>
      <p:sp>
        <p:nvSpPr>
          <p:cNvPr id="88" name="Google Shape;88;p17"/>
          <p:cNvSpPr txBox="1"/>
          <p:nvPr/>
        </p:nvSpPr>
        <p:spPr>
          <a:xfrm>
            <a:off x="615325" y="1491975"/>
            <a:ext cx="2840700" cy="26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UN TOKEN DOS </a:t>
            </a:r>
            <a:r>
              <a:rPr lang="es-419" sz="2300">
                <a:solidFill>
                  <a:srgbClr val="FF3B4B"/>
                </a:solidFill>
                <a:latin typeface="Nunito"/>
                <a:ea typeface="Nunito"/>
                <a:cs typeface="Nunito"/>
                <a:sym typeface="Nunito"/>
              </a:rPr>
              <a:t>QR</a:t>
            </a:r>
            <a:endParaRPr sz="2300">
              <a:solidFill>
                <a:srgbClr val="FF3B4B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3B4B"/>
                </a:solidFill>
                <a:latin typeface="Nunito"/>
                <a:ea typeface="Nunito"/>
                <a:cs typeface="Nunito"/>
                <a:sym typeface="Nunito"/>
              </a:rPr>
              <a:t>Uno </a:t>
            </a:r>
            <a:r>
              <a:rPr lang="es-419" sz="1800">
                <a:solidFill>
                  <a:srgbClr val="FF3B4B"/>
                </a:solidFill>
                <a:latin typeface="Nunito"/>
                <a:ea typeface="Nunito"/>
                <a:cs typeface="Nunito"/>
                <a:sym typeface="Nunito"/>
              </a:rPr>
              <a:t>público</a:t>
            </a:r>
            <a:r>
              <a:rPr lang="es-419" sz="1800">
                <a:solidFill>
                  <a:srgbClr val="FF3B4B"/>
                </a:solidFill>
                <a:latin typeface="Nunito"/>
                <a:ea typeface="Nunito"/>
                <a:cs typeface="Nunito"/>
                <a:sym typeface="Nunito"/>
              </a:rPr>
              <a:t> y otro secreto </a:t>
            </a:r>
            <a:endParaRPr sz="1800">
              <a:solidFill>
                <a:srgbClr val="FF3B4B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Información</a:t>
            </a:r>
            <a:r>
              <a:rPr lang="es-419" sz="16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 importante para el cliente y la tranquilidad de un producto </a:t>
            </a:r>
            <a:r>
              <a:rPr lang="es-419" sz="16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original</a:t>
            </a:r>
            <a:r>
              <a:rPr lang="es-419" sz="16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800">
              <a:solidFill>
                <a:srgbClr val="A0A0AB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9" name="Google Shape;89;p17" title="VefireLogi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7250" y="-319625"/>
            <a:ext cx="5535575" cy="5519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 rotWithShape="1">
          <a:blip r:embed="rId4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353550" y="1125025"/>
            <a:ext cx="36999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E50914"/>
                </a:solidFill>
                <a:latin typeface="Nunito"/>
                <a:ea typeface="Nunito"/>
                <a:cs typeface="Nunito"/>
                <a:sym typeface="Nunito"/>
              </a:rPr>
              <a:t>Claimea</a:t>
            </a:r>
            <a:r>
              <a:rPr lang="es-419" sz="3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tu producto</a:t>
            </a:r>
            <a:endParaRPr sz="3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Será</a:t>
            </a:r>
            <a:r>
              <a:rPr lang="es-419" sz="24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lang="es-419" sz="25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tuyo</a:t>
            </a:r>
            <a:r>
              <a:rPr lang="es-419" sz="25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s-419" sz="2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y solo para</a:t>
            </a:r>
            <a:r>
              <a:rPr lang="es-419" sz="24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s-419" sz="2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vos</a:t>
            </a:r>
            <a:endParaRPr sz="24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Más</a:t>
            </a:r>
            <a:r>
              <a:rPr lang="es-419" sz="19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 otras funciones</a:t>
            </a:r>
            <a:r>
              <a:rPr lang="es-419" sz="30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s-419" sz="19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como la </a:t>
            </a:r>
            <a:r>
              <a:rPr lang="es-419" sz="19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activación</a:t>
            </a:r>
            <a:r>
              <a:rPr lang="es-419" sz="19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 de </a:t>
            </a:r>
            <a:r>
              <a:rPr lang="es-419" sz="19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garantías</a:t>
            </a:r>
            <a:r>
              <a:rPr lang="es-419" sz="19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 mediante el mismo claimeo</a:t>
            </a:r>
            <a:r>
              <a:rPr lang="es-419" sz="19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1850" y="672763"/>
            <a:ext cx="3488900" cy="298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b="-3330" l="740" r="-740" t="3330"/>
          <a:stretch/>
        </p:blipFill>
        <p:spPr>
          <a:xfrm>
            <a:off x="4400650" y="3322800"/>
            <a:ext cx="3699774" cy="102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5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18"/>
          <p:cNvGrpSpPr/>
          <p:nvPr/>
        </p:nvGrpSpPr>
        <p:grpSpPr>
          <a:xfrm>
            <a:off x="571500" y="457200"/>
            <a:ext cx="1295400" cy="285900"/>
            <a:chOff x="0" y="0"/>
            <a:chExt cx="1295400" cy="285900"/>
          </a:xfrm>
        </p:grpSpPr>
        <p:sp>
          <p:nvSpPr>
            <p:cNvPr id="100" name="Google Shape;100;p18"/>
            <p:cNvSpPr/>
            <p:nvPr/>
          </p:nvSpPr>
          <p:spPr>
            <a:xfrm>
              <a:off x="0" y="0"/>
              <a:ext cx="1295400" cy="285900"/>
            </a:xfrm>
            <a:prstGeom prst="roundRect">
              <a:avLst>
                <a:gd fmla="val 50000" name="adj"/>
              </a:avLst>
            </a:prstGeom>
            <a:solidFill>
              <a:srgbClr val="1F1115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8"/>
            <p:cNvSpPr txBox="1"/>
            <p:nvPr/>
          </p:nvSpPr>
          <p:spPr>
            <a:xfrm>
              <a:off x="0" y="0"/>
              <a:ext cx="129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NUESTRA SOLUCIÓN</a:t>
              </a:r>
              <a:endParaRPr b="0" sz="90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/>
        </p:nvSpPr>
        <p:spPr>
          <a:xfrm>
            <a:off x="572726" y="1494300"/>
            <a:ext cx="38358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rgbClr val="FF3B4B"/>
                </a:solidFill>
                <a:latin typeface="Nunito"/>
                <a:ea typeface="Nunito"/>
                <a:cs typeface="Nunito"/>
                <a:sym typeface="Nunito"/>
              </a:rPr>
              <a:t>Verifire para empresas</a:t>
            </a:r>
            <a:endParaRPr sz="2800">
              <a:solidFill>
                <a:srgbClr val="FF3B4B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un entorno hecho para empresas, mejores herramientas y </a:t>
            </a:r>
            <a:r>
              <a:rPr lang="es-419" sz="25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más</a:t>
            </a:r>
            <a:r>
              <a:rPr lang="es-419" sz="2500">
                <a:solidFill>
                  <a:srgbClr val="A0A0AB"/>
                </a:solidFill>
                <a:latin typeface="Nunito"/>
                <a:ea typeface="Nunito"/>
                <a:cs typeface="Nunito"/>
                <a:sym typeface="Nunito"/>
              </a:rPr>
              <a:t> detalladas</a:t>
            </a:r>
            <a:endParaRPr sz="2500">
              <a:solidFill>
                <a:srgbClr val="A0A0A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07" name="Google Shape;107;p19"/>
          <p:cNvGrpSpPr/>
          <p:nvPr/>
        </p:nvGrpSpPr>
        <p:grpSpPr>
          <a:xfrm>
            <a:off x="690750" y="735375"/>
            <a:ext cx="1295400" cy="285900"/>
            <a:chOff x="0" y="0"/>
            <a:chExt cx="1295400" cy="285900"/>
          </a:xfrm>
        </p:grpSpPr>
        <p:sp>
          <p:nvSpPr>
            <p:cNvPr id="108" name="Google Shape;108;p19"/>
            <p:cNvSpPr/>
            <p:nvPr/>
          </p:nvSpPr>
          <p:spPr>
            <a:xfrm>
              <a:off x="0" y="0"/>
              <a:ext cx="1295400" cy="285900"/>
            </a:xfrm>
            <a:prstGeom prst="roundRect">
              <a:avLst>
                <a:gd fmla="val 50000" name="adj"/>
              </a:avLst>
            </a:prstGeom>
            <a:solidFill>
              <a:srgbClr val="1F1115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9"/>
            <p:cNvSpPr txBox="1"/>
            <p:nvPr/>
          </p:nvSpPr>
          <p:spPr>
            <a:xfrm>
              <a:off x="0" y="0"/>
              <a:ext cx="129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NUESTRA SOLUCIÓN</a:t>
              </a:r>
              <a:endParaRPr b="0" sz="90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</p:grp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7225" y="1105400"/>
            <a:ext cx="4381401" cy="293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4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20"/>
          <p:cNvGrpSpPr/>
          <p:nvPr/>
        </p:nvGrpSpPr>
        <p:grpSpPr>
          <a:xfrm>
            <a:off x="571500" y="457200"/>
            <a:ext cx="8001000" cy="819300"/>
            <a:chOff x="0" y="0"/>
            <a:chExt cx="8001000" cy="819300"/>
          </a:xfrm>
        </p:grpSpPr>
        <p:sp>
          <p:nvSpPr>
            <p:cNvPr id="117" name="Google Shape;117;p20"/>
            <p:cNvSpPr/>
            <p:nvPr/>
          </p:nvSpPr>
          <p:spPr>
            <a:xfrm>
              <a:off x="0" y="0"/>
              <a:ext cx="1409700" cy="266700"/>
            </a:xfrm>
            <a:prstGeom prst="roundRect">
              <a:avLst>
                <a:gd fmla="val 50000" name="adj"/>
              </a:avLst>
            </a:prstGeom>
            <a:solidFill>
              <a:srgbClr val="1F1115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0"/>
            <p:cNvSpPr txBox="1"/>
            <p:nvPr/>
          </p:nvSpPr>
          <p:spPr>
            <a:xfrm>
              <a:off x="0" y="0"/>
              <a:ext cx="1409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0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MODELO DE NEGOCIO</a:t>
              </a:r>
              <a:endParaRPr b="0" sz="90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  <p:sp>
          <p:nvSpPr>
            <p:cNvPr id="119" name="Google Shape;119;p20"/>
            <p:cNvSpPr txBox="1"/>
            <p:nvPr/>
          </p:nvSpPr>
          <p:spPr>
            <a:xfrm>
              <a:off x="0" y="34290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26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Cobro B2B por producto registrado</a:t>
              </a:r>
              <a:endParaRPr b="1" sz="26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0" name="Google Shape;120;p20"/>
          <p:cNvGrpSpPr/>
          <p:nvPr/>
        </p:nvGrpSpPr>
        <p:grpSpPr>
          <a:xfrm>
            <a:off x="571500" y="1524000"/>
            <a:ext cx="3810000" cy="2476500"/>
            <a:chOff x="0" y="0"/>
            <a:chExt cx="3810000" cy="2476500"/>
          </a:xfrm>
        </p:grpSpPr>
        <p:sp>
          <p:nvSpPr>
            <p:cNvPr id="121" name="Google Shape;121;p20"/>
            <p:cNvSpPr/>
            <p:nvPr/>
          </p:nvSpPr>
          <p:spPr>
            <a:xfrm>
              <a:off x="0" y="0"/>
              <a:ext cx="3810000" cy="2476500"/>
            </a:xfrm>
            <a:prstGeom prst="roundRect">
              <a:avLst>
                <a:gd fmla="val 6153" name="adj"/>
              </a:avLst>
            </a:prstGeom>
            <a:solidFill>
              <a:srgbClr val="0D0D11"/>
            </a:solidFill>
            <a:ln cap="flat" cmpd="sng" w="14300">
              <a:solidFill>
                <a:srgbClr val="2614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0"/>
            <p:cNvSpPr/>
            <p:nvPr/>
          </p:nvSpPr>
          <p:spPr>
            <a:xfrm>
              <a:off x="228600" y="0"/>
              <a:ext cx="571500" cy="28500"/>
            </a:xfrm>
            <a:prstGeom prst="roundRect">
              <a:avLst>
                <a:gd fmla="val 50000" name="adj"/>
              </a:avLst>
            </a:prstGeom>
            <a:solidFill>
              <a:srgbClr val="FF3B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0"/>
            <p:cNvSpPr txBox="1"/>
            <p:nvPr/>
          </p:nvSpPr>
          <p:spPr>
            <a:xfrm>
              <a:off x="228600" y="228600"/>
              <a:ext cx="3352800" cy="20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8E8E93"/>
                  </a:solidFill>
                  <a:latin typeface="Nunito"/>
                  <a:ea typeface="Nunito"/>
                  <a:cs typeface="Nunito"/>
                  <a:sym typeface="Nunito"/>
                </a:rPr>
                <a:t>PRECIO DE VENTA</a:t>
              </a:r>
              <a:endParaRPr b="1" sz="1000">
                <a:solidFill>
                  <a:srgbClr val="8E8E93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440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0,025</a:t>
              </a:r>
              <a:r>
                <a:rPr b="0" lang="es-419" sz="4400">
                  <a:solidFill>
                    <a:srgbClr val="FFFFFF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 - 0,25</a:t>
              </a:r>
              <a:endParaRPr b="0" sz="440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5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Rango por unidad</a:t>
              </a:r>
              <a:endParaRPr b="1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7C7C85"/>
                  </a:solidFill>
                  <a:latin typeface="Nunito"/>
                  <a:ea typeface="Nunito"/>
                  <a:cs typeface="Nunito"/>
                  <a:sym typeface="Nunito"/>
                </a:rPr>
                <a:t>Tarifa B2B escalable según volumen de registro por cliente.</a:t>
              </a:r>
              <a:endParaRPr b="0" sz="1100">
                <a:solidFill>
                  <a:srgbClr val="7C7C8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4" name="Google Shape;124;p20"/>
          <p:cNvGrpSpPr/>
          <p:nvPr/>
        </p:nvGrpSpPr>
        <p:grpSpPr>
          <a:xfrm>
            <a:off x="4762500" y="1524000"/>
            <a:ext cx="3810000" cy="2476500"/>
            <a:chOff x="0" y="0"/>
            <a:chExt cx="3810000" cy="2476500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0"/>
              <a:ext cx="3810000" cy="2476500"/>
            </a:xfrm>
            <a:prstGeom prst="roundRect">
              <a:avLst>
                <a:gd fmla="val 6153" name="adj"/>
              </a:avLst>
            </a:prstGeom>
            <a:solidFill>
              <a:srgbClr val="0D0D11"/>
            </a:solidFill>
            <a:ln cap="flat" cmpd="sng" w="14300">
              <a:solidFill>
                <a:srgbClr val="2614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/>
            <p:nvPr/>
          </p:nvSpPr>
          <p:spPr>
            <a:xfrm>
              <a:off x="228600" y="0"/>
              <a:ext cx="571500" cy="28500"/>
            </a:xfrm>
            <a:prstGeom prst="roundRect">
              <a:avLst>
                <a:gd fmla="val 50000" name="adj"/>
              </a:avLst>
            </a:prstGeom>
            <a:solidFill>
              <a:srgbClr val="FF3B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 txBox="1"/>
            <p:nvPr/>
          </p:nvSpPr>
          <p:spPr>
            <a:xfrm>
              <a:off x="228600" y="228600"/>
              <a:ext cx="3352800" cy="20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8E8E93"/>
                  </a:solidFill>
                  <a:latin typeface="Nunito"/>
                  <a:ea typeface="Nunito"/>
                  <a:cs typeface="Nunito"/>
                  <a:sym typeface="Nunito"/>
                </a:rPr>
                <a:t>COSTO OPERATIVO</a:t>
              </a:r>
              <a:endParaRPr b="1" sz="1000">
                <a:solidFill>
                  <a:srgbClr val="8E8E93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440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&lt; $0,003</a:t>
              </a:r>
              <a:endParaRPr b="0" sz="440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5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Comisión de red en Solana</a:t>
              </a:r>
              <a:endParaRPr b="1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7C7C85"/>
                  </a:solidFill>
                  <a:latin typeface="Nunito"/>
                  <a:ea typeface="Nunito"/>
                  <a:cs typeface="Nunito"/>
                  <a:sym typeface="Nunito"/>
                </a:rPr>
                <a:t>Costo transaccional mínimo</a:t>
              </a:r>
              <a:endParaRPr b="0" sz="1100">
                <a:solidFill>
                  <a:srgbClr val="7C7C8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10" l="179" r="189" t="1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1"/>
          <p:cNvGrpSpPr/>
          <p:nvPr/>
        </p:nvGrpSpPr>
        <p:grpSpPr>
          <a:xfrm>
            <a:off x="571500" y="342900"/>
            <a:ext cx="8001000" cy="705000"/>
            <a:chOff x="0" y="0"/>
            <a:chExt cx="8001000" cy="705000"/>
          </a:xfrm>
        </p:grpSpPr>
        <p:sp>
          <p:nvSpPr>
            <p:cNvPr id="134" name="Google Shape;134;p21"/>
            <p:cNvSpPr/>
            <p:nvPr/>
          </p:nvSpPr>
          <p:spPr>
            <a:xfrm>
              <a:off x="0" y="0"/>
              <a:ext cx="1524000" cy="247800"/>
            </a:xfrm>
            <a:prstGeom prst="roundRect">
              <a:avLst>
                <a:gd fmla="val 50000" name="adj"/>
              </a:avLst>
            </a:prstGeom>
            <a:solidFill>
              <a:srgbClr val="1F1115"/>
            </a:solidFill>
            <a:ln cap="flat" cmpd="sng" w="9525">
              <a:solidFill>
                <a:srgbClr val="4A15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1"/>
            <p:cNvSpPr txBox="1"/>
            <p:nvPr/>
          </p:nvSpPr>
          <p:spPr>
            <a:xfrm>
              <a:off x="0" y="0"/>
              <a:ext cx="1524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786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ESTRATEGIA GO-TO-MARKET</a:t>
              </a:r>
              <a:endParaRPr sz="1085"/>
            </a:p>
          </p:txBody>
        </p:sp>
        <p:sp>
          <p:nvSpPr>
            <p:cNvPr id="136" name="Google Shape;136;p21"/>
            <p:cNvSpPr txBox="1"/>
            <p:nvPr/>
          </p:nvSpPr>
          <p:spPr>
            <a:xfrm>
              <a:off x="0" y="304800"/>
              <a:ext cx="800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22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Estrategia de Entrada y Escalamiento</a:t>
              </a:r>
              <a:endParaRPr sz="1085"/>
            </a:p>
          </p:txBody>
        </p:sp>
      </p:grpSp>
      <p:grpSp>
        <p:nvGrpSpPr>
          <p:cNvPr id="137" name="Google Shape;137;p21"/>
          <p:cNvGrpSpPr/>
          <p:nvPr/>
        </p:nvGrpSpPr>
        <p:grpSpPr>
          <a:xfrm>
            <a:off x="571500" y="1428750"/>
            <a:ext cx="1619100" cy="2571900"/>
            <a:chOff x="0" y="0"/>
            <a:chExt cx="1619100" cy="2571900"/>
          </a:xfrm>
        </p:grpSpPr>
        <p:sp>
          <p:nvSpPr>
            <p:cNvPr id="138" name="Google Shape;138;p21"/>
            <p:cNvSpPr/>
            <p:nvPr/>
          </p:nvSpPr>
          <p:spPr>
            <a:xfrm>
              <a:off x="0" y="0"/>
              <a:ext cx="1619100" cy="2571900"/>
            </a:xfrm>
            <a:prstGeom prst="roundRect">
              <a:avLst>
                <a:gd fmla="val 9411" name="adj"/>
              </a:avLst>
            </a:prstGeom>
            <a:solidFill>
              <a:srgbClr val="0D0D11"/>
            </a:solidFill>
            <a:ln cap="flat" cmpd="sng" w="14300">
              <a:solidFill>
                <a:srgbClr val="2614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1"/>
            <p:cNvSpPr/>
            <p:nvPr/>
          </p:nvSpPr>
          <p:spPr>
            <a:xfrm>
              <a:off x="190500" y="0"/>
              <a:ext cx="381000" cy="28500"/>
            </a:xfrm>
            <a:prstGeom prst="roundRect">
              <a:avLst>
                <a:gd fmla="val 50000" name="adj"/>
              </a:avLst>
            </a:prstGeom>
            <a:solidFill>
              <a:srgbClr val="FF3B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1"/>
            <p:cNvSpPr txBox="1"/>
            <p:nvPr/>
          </p:nvSpPr>
          <p:spPr>
            <a:xfrm>
              <a:off x="190500" y="190500"/>
              <a:ext cx="1238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62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1. DISPARADOR</a:t>
              </a:r>
              <a:endParaRPr b="0" sz="62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217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INV 2026</a:t>
              </a:r>
              <a:endParaRPr b="0" sz="217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085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Normativa</a:t>
              </a:r>
              <a:endParaRPr b="1" sz="108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775">
                  <a:solidFill>
                    <a:srgbClr val="7C7C85"/>
                  </a:solidFill>
                  <a:latin typeface="Nunito"/>
                  <a:ea typeface="Nunito"/>
                  <a:cs typeface="Nunito"/>
                  <a:sym typeface="Nunito"/>
                </a:rPr>
                <a:t>Trazabilidad obligatoria por lote para exportación.</a:t>
              </a:r>
              <a:endParaRPr b="0" sz="775">
                <a:solidFill>
                  <a:srgbClr val="7C7C8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1" name="Google Shape;141;p21"/>
          <p:cNvGrpSpPr/>
          <p:nvPr/>
        </p:nvGrpSpPr>
        <p:grpSpPr>
          <a:xfrm>
            <a:off x="2381250" y="1428750"/>
            <a:ext cx="1619100" cy="2571900"/>
            <a:chOff x="0" y="0"/>
            <a:chExt cx="1619100" cy="2571900"/>
          </a:xfrm>
        </p:grpSpPr>
        <p:sp>
          <p:nvSpPr>
            <p:cNvPr id="142" name="Google Shape;142;p21"/>
            <p:cNvSpPr/>
            <p:nvPr/>
          </p:nvSpPr>
          <p:spPr>
            <a:xfrm>
              <a:off x="0" y="0"/>
              <a:ext cx="1619100" cy="2571900"/>
            </a:xfrm>
            <a:prstGeom prst="roundRect">
              <a:avLst>
                <a:gd fmla="val 9411" name="adj"/>
              </a:avLst>
            </a:prstGeom>
            <a:solidFill>
              <a:srgbClr val="0D0D11"/>
            </a:solidFill>
            <a:ln cap="flat" cmpd="sng" w="14300">
              <a:solidFill>
                <a:srgbClr val="2614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1"/>
            <p:cNvSpPr/>
            <p:nvPr/>
          </p:nvSpPr>
          <p:spPr>
            <a:xfrm>
              <a:off x="190500" y="0"/>
              <a:ext cx="381000" cy="28500"/>
            </a:xfrm>
            <a:prstGeom prst="roundRect">
              <a:avLst>
                <a:gd fmla="val 50000" name="adj"/>
              </a:avLst>
            </a:prstGeom>
            <a:solidFill>
              <a:srgbClr val="FF3B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1"/>
            <p:cNvSpPr txBox="1"/>
            <p:nvPr/>
          </p:nvSpPr>
          <p:spPr>
            <a:xfrm>
              <a:off x="190500" y="190500"/>
              <a:ext cx="1238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62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2. PILOTO (SALTA)</a:t>
              </a:r>
              <a:endParaRPr b="0" sz="62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217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Cafayate</a:t>
              </a:r>
              <a:endParaRPr b="0" sz="217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085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Validación</a:t>
              </a:r>
              <a:endParaRPr b="1" sz="108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775">
                  <a:solidFill>
                    <a:srgbClr val="7C7C85"/>
                  </a:solidFill>
                  <a:latin typeface="Nunito"/>
                  <a:ea typeface="Nunito"/>
                  <a:cs typeface="Nunito"/>
                  <a:sym typeface="Nunito"/>
                </a:rPr>
                <a:t>Validación cara a cara con bodegas locales.</a:t>
              </a:r>
              <a:endParaRPr b="0" sz="775">
                <a:solidFill>
                  <a:srgbClr val="7C7C8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5" name="Google Shape;145;p21"/>
          <p:cNvGrpSpPr/>
          <p:nvPr/>
        </p:nvGrpSpPr>
        <p:grpSpPr>
          <a:xfrm>
            <a:off x="4191000" y="1428750"/>
            <a:ext cx="1619100" cy="2571900"/>
            <a:chOff x="0" y="0"/>
            <a:chExt cx="1619100" cy="2571900"/>
          </a:xfrm>
        </p:grpSpPr>
        <p:sp>
          <p:nvSpPr>
            <p:cNvPr id="146" name="Google Shape;146;p21"/>
            <p:cNvSpPr/>
            <p:nvPr/>
          </p:nvSpPr>
          <p:spPr>
            <a:xfrm>
              <a:off x="0" y="0"/>
              <a:ext cx="1619100" cy="2571900"/>
            </a:xfrm>
            <a:prstGeom prst="roundRect">
              <a:avLst>
                <a:gd fmla="val 9411" name="adj"/>
              </a:avLst>
            </a:prstGeom>
            <a:solidFill>
              <a:srgbClr val="0D0D11"/>
            </a:solidFill>
            <a:ln cap="flat" cmpd="sng" w="14300">
              <a:solidFill>
                <a:srgbClr val="2614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190500" y="0"/>
              <a:ext cx="381000" cy="28500"/>
            </a:xfrm>
            <a:prstGeom prst="roundRect">
              <a:avLst>
                <a:gd fmla="val 50000" name="adj"/>
              </a:avLst>
            </a:prstGeom>
            <a:solidFill>
              <a:srgbClr val="FF3B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1"/>
            <p:cNvSpPr txBox="1"/>
            <p:nvPr/>
          </p:nvSpPr>
          <p:spPr>
            <a:xfrm>
              <a:off x="190500" y="190500"/>
              <a:ext cx="1238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62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3. ESCALAMIENTO</a:t>
              </a:r>
              <a:endParaRPr b="0" sz="62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2170">
                  <a:solidFill>
                    <a:srgbClr val="FF3B4B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Marcas</a:t>
              </a:r>
              <a:endParaRPr b="0" sz="2170">
                <a:solidFill>
                  <a:srgbClr val="FF3B4B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085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Expansión</a:t>
              </a:r>
              <a:endParaRPr b="1" sz="108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775">
                  <a:solidFill>
                    <a:srgbClr val="7C7C85"/>
                  </a:solidFill>
                  <a:latin typeface="Nunito"/>
                  <a:ea typeface="Nunito"/>
                  <a:cs typeface="Nunito"/>
                  <a:sym typeface="Nunito"/>
                </a:rPr>
                <a:t>Distribución masiva y grandes fabricantes.</a:t>
              </a:r>
              <a:endParaRPr b="0" sz="775">
                <a:solidFill>
                  <a:srgbClr val="7C7C8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 title="bodegas-lavaque-3-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0750" y="1480100"/>
            <a:ext cx="2881426" cy="2469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26141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/>
        </p:nvSpPr>
        <p:spPr>
          <a:xfrm>
            <a:off x="577750" y="321775"/>
            <a:ext cx="798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Github</a:t>
            </a:r>
            <a:endParaRPr b="1"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375" y="1330573"/>
            <a:ext cx="3852624" cy="273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8250" y="947438"/>
            <a:ext cx="3248625" cy="324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2"/>
          <p:cNvPicPr preferRelativeResize="0"/>
          <p:nvPr/>
        </p:nvPicPr>
        <p:blipFill rotWithShape="1">
          <a:blip r:embed="rId5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/>
        </p:nvSpPr>
        <p:spPr>
          <a:xfrm>
            <a:off x="577750" y="321775"/>
            <a:ext cx="798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 u="sng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Demo Link</a:t>
            </a:r>
            <a:endParaRPr b="1"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4" name="Google Shape;16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225" y="968575"/>
            <a:ext cx="3059974" cy="320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2200" y="1005175"/>
            <a:ext cx="3133150" cy="313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3"/>
          <p:cNvPicPr preferRelativeResize="0"/>
          <p:nvPr/>
        </p:nvPicPr>
        <p:blipFill rotWithShape="1">
          <a:blip r:embed="rId6">
            <a:alphaModFix/>
          </a:blip>
          <a:srcRect b="0" l="179" r="189" t="0"/>
          <a:stretch/>
        </p:blipFill>
        <p:spPr>
          <a:xfrm>
            <a:off x="571500" y="4305300"/>
            <a:ext cx="476400" cy="6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/>
        </p:nvSpPr>
        <p:spPr>
          <a:xfrm>
            <a:off x="2578500" y="2958113"/>
            <a:ext cx="398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Thank you!</a:t>
            </a:r>
            <a:endParaRPr b="1" sz="1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1573588" y="1433525"/>
            <a:ext cx="5838600" cy="1524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4"/>
          <p:cNvPicPr preferRelativeResize="0"/>
          <p:nvPr/>
        </p:nvPicPr>
        <p:blipFill rotWithShape="1">
          <a:blip r:embed="rId3">
            <a:alphaModFix/>
          </a:blip>
          <a:srcRect b="24824" l="2723" r="4650" t="17446"/>
          <a:stretch/>
        </p:blipFill>
        <p:spPr>
          <a:xfrm>
            <a:off x="1573575" y="1461125"/>
            <a:ext cx="5996826" cy="14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