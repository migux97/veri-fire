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5143500" cx="9144000"/>
  <p:notesSz cx="6858000" cy="9144000"/>
  <p:embeddedFontLst>
    <p:embeddedFont>
      <p:font typeface="Nunito"/>
      <p:regular r:id="rId16"/>
      <p:bold r:id="rId17"/>
      <p:italic r:id="rId18"/>
      <p:boldItalic r:id="rId19"/>
    </p:embeddedFont>
    <p:embeddedFont>
      <p:font typeface="Nunito ExtraBold"/>
      <p:bold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unitoExtraBold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schemas.openxmlformats.org/officeDocument/2006/relationships/font" Target="fonts/NunitoExtraBold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Nunito-bold.fntdata"/><Relationship Id="rId16" Type="http://schemas.openxmlformats.org/officeDocument/2006/relationships/font" Target="fonts/Nunito-regular.fntdata"/><Relationship Id="rId5" Type="http://schemas.openxmlformats.org/officeDocument/2006/relationships/slide" Target="slides/slide1.xml"/><Relationship Id="rId19" Type="http://schemas.openxmlformats.org/officeDocument/2006/relationships/font" Target="fonts/Nunito-boldItalic.fntdata"/><Relationship Id="rId6" Type="http://schemas.openxmlformats.org/officeDocument/2006/relationships/slide" Target="slides/slide2.xml"/><Relationship Id="rId18" Type="http://schemas.openxmlformats.org/officeDocument/2006/relationships/font" Target="fonts/Nunito-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447aaadc00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447aaadc00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447aaadc0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447aaadc0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447aaadc00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447aaadc00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447aaadc00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447aaadc00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447aaadc00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447aaadc00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447aaadc00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447aaadc00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h4626d4fcac2c62b0_3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h4626d4fcac2c62b0_3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h4626d4fcac2c62b0_10_3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h4626d4fcac2c62b0_10_3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447aaadc00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447aaadc00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448013f74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448013f74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2208e2edbe4_0_1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2208e2edbe4_0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h4626d4fcac2c62b0_37_0)">
  <p:cSld name="Generated (h4626d4fcac2c62b0_37_0)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9.png"/><Relationship Id="rId5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1.png"/><Relationship Id="rId5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verifire.cosmosapp.lat/" TargetMode="External"/><Relationship Id="rId4" Type="http://schemas.openxmlformats.org/officeDocument/2006/relationships/image" Target="../media/image16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/>
        </p:nvSpPr>
        <p:spPr>
          <a:xfrm>
            <a:off x="2604450" y="3099050"/>
            <a:ext cx="3935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Sistema de </a:t>
            </a: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antipiratería y autentificación de productos </a:t>
            </a: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endParaRPr b="1" sz="1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6" name="Google Shape;56;p14"/>
          <p:cNvSpPr/>
          <p:nvPr/>
        </p:nvSpPr>
        <p:spPr>
          <a:xfrm>
            <a:off x="1573600" y="1518775"/>
            <a:ext cx="5838600" cy="1524600"/>
          </a:xfrm>
          <a:prstGeom prst="flowChartAlternateProcess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7" name="Google Shape;57;p14"/>
          <p:cNvPicPr preferRelativeResize="0"/>
          <p:nvPr/>
        </p:nvPicPr>
        <p:blipFill rotWithShape="1">
          <a:blip r:embed="rId3">
            <a:alphaModFix/>
          </a:blip>
          <a:srcRect b="24824" l="2723" r="4650" t="17446"/>
          <a:stretch/>
        </p:blipFill>
        <p:spPr>
          <a:xfrm>
            <a:off x="1573600" y="1573975"/>
            <a:ext cx="5996826" cy="146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oogle Shape;62;p15"/>
          <p:cNvGrpSpPr/>
          <p:nvPr/>
        </p:nvGrpSpPr>
        <p:grpSpPr>
          <a:xfrm>
            <a:off x="762000" y="476250"/>
            <a:ext cx="1047900" cy="266700"/>
            <a:chOff x="0" y="0"/>
            <a:chExt cx="1047900" cy="266700"/>
          </a:xfrm>
        </p:grpSpPr>
        <p:sp>
          <p:nvSpPr>
            <p:cNvPr id="63" name="Google Shape;63;p15"/>
            <p:cNvSpPr/>
            <p:nvPr/>
          </p:nvSpPr>
          <p:spPr>
            <a:xfrm>
              <a:off x="0" y="0"/>
              <a:ext cx="1047900" cy="266700"/>
            </a:xfrm>
            <a:prstGeom prst="roundRect">
              <a:avLst>
                <a:gd fmla="val 50000" name="adj"/>
              </a:avLst>
            </a:prstGeom>
            <a:solidFill>
              <a:srgbClr val="1E0F12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" name="Google Shape;64;p15"/>
            <p:cNvSpPr txBox="1"/>
            <p:nvPr/>
          </p:nvSpPr>
          <p:spPr>
            <a:xfrm>
              <a:off x="0" y="0"/>
              <a:ext cx="10479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900">
                  <a:solidFill>
                    <a:srgbClr val="FF3B4B"/>
                  </a:solidFill>
                  <a:latin typeface="Nunito"/>
                  <a:ea typeface="Nunito"/>
                  <a:cs typeface="Nunito"/>
                  <a:sym typeface="Nunito"/>
                </a:rPr>
                <a:t>PROBLEMA</a:t>
              </a:r>
              <a:endParaRPr b="1" sz="9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sp>
        <p:nvSpPr>
          <p:cNvPr id="65" name="Google Shape;65;p15"/>
          <p:cNvSpPr txBox="1"/>
          <p:nvPr/>
        </p:nvSpPr>
        <p:spPr>
          <a:xfrm>
            <a:off x="762000" y="666375"/>
            <a:ext cx="4119600" cy="3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s-419" sz="7200">
                <a:solidFill>
                  <a:srgbClr val="FFFFFF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+$500B</a:t>
            </a:r>
            <a:endParaRPr b="0" sz="7200">
              <a:solidFill>
                <a:srgbClr val="FFFFFF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ANUALES A NIVEL GLOBAL</a:t>
            </a:r>
            <a:endParaRPr b="1" sz="1800">
              <a:solidFill>
                <a:srgbClr val="FF3B4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b="0" lang="es-419" sz="12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El mercado ilícito de falsificaciones mueve volúmenes masivos de dinero, afectando economías globales y cadenas de suministro.</a:t>
            </a:r>
            <a:endParaRPr b="0" sz="1200">
              <a:solidFill>
                <a:srgbClr val="A0A0AB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66" name="Google Shape;6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4333875"/>
            <a:ext cx="595200" cy="771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5"/>
          <p:cNvSpPr txBox="1"/>
          <p:nvPr/>
        </p:nvSpPr>
        <p:spPr>
          <a:xfrm>
            <a:off x="4808475" y="4576425"/>
            <a:ext cx="3810000" cy="414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100">
                <a:solidFill>
                  <a:srgbClr val="71717A"/>
                </a:solidFill>
                <a:latin typeface="Nunito"/>
                <a:ea typeface="Nunito"/>
                <a:cs typeface="Nunito"/>
                <a:sym typeface="Nunito"/>
              </a:rPr>
              <a:t>Fuentes: OCDE / EUIPO – </a:t>
            </a:r>
            <a:r>
              <a:rPr b="1" lang="es-419" sz="1100">
                <a:solidFill>
                  <a:srgbClr val="71717A"/>
                </a:solidFill>
                <a:latin typeface="Nunito"/>
                <a:ea typeface="Nunito"/>
                <a:cs typeface="Nunito"/>
                <a:sym typeface="Nunito"/>
              </a:rPr>
              <a:t>Trends in Trade in Counterfeit and Pirated Goods</a:t>
            </a:r>
            <a:r>
              <a:rPr lang="es-419" sz="1100">
                <a:solidFill>
                  <a:srgbClr val="71717A"/>
                </a:solidFill>
                <a:latin typeface="Nunito"/>
                <a:ea typeface="Nunito"/>
                <a:cs typeface="Nunito"/>
                <a:sym typeface="Nunito"/>
              </a:rPr>
              <a:t>. </a:t>
            </a:r>
            <a:endParaRPr sz="1100">
              <a:solidFill>
                <a:srgbClr val="71717A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 rot="-714123">
            <a:off x="5038403" y="998177"/>
            <a:ext cx="1614670" cy="239799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544464">
            <a:off x="6921602" y="1685125"/>
            <a:ext cx="1739975" cy="177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6"/>
          <p:cNvGrpSpPr/>
          <p:nvPr/>
        </p:nvGrpSpPr>
        <p:grpSpPr>
          <a:xfrm>
            <a:off x="571500" y="457200"/>
            <a:ext cx="1295400" cy="285900"/>
            <a:chOff x="0" y="0"/>
            <a:chExt cx="1295400" cy="285900"/>
          </a:xfrm>
        </p:grpSpPr>
        <p:sp>
          <p:nvSpPr>
            <p:cNvPr id="75" name="Google Shape;75;p16"/>
            <p:cNvSpPr/>
            <p:nvPr/>
          </p:nvSpPr>
          <p:spPr>
            <a:xfrm>
              <a:off x="0" y="0"/>
              <a:ext cx="1295400" cy="2859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6"/>
            <p:cNvSpPr txBox="1"/>
            <p:nvPr/>
          </p:nvSpPr>
          <p:spPr>
            <a:xfrm>
              <a:off x="0" y="0"/>
              <a:ext cx="1295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NUESTRA SOLUCIÓN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</p:grpSp>
      <p:sp>
        <p:nvSpPr>
          <p:cNvPr id="77" name="Google Shape;77;p16"/>
          <p:cNvSpPr txBox="1"/>
          <p:nvPr/>
        </p:nvSpPr>
        <p:spPr>
          <a:xfrm>
            <a:off x="571500" y="1418300"/>
            <a:ext cx="3719100" cy="25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s-419" sz="2800">
                <a:solidFill>
                  <a:srgbClr val="FFFFFF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La Tokenización de productos</a:t>
            </a:r>
            <a:endParaRPr b="0" sz="2800">
              <a:solidFill>
                <a:srgbClr val="FFFFFF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s-419" sz="1600">
                <a:solidFill>
                  <a:srgbClr val="22C55E"/>
                </a:solidFill>
                <a:latin typeface="Nunito"/>
                <a:ea typeface="Nunito"/>
                <a:cs typeface="Nunito"/>
                <a:sym typeface="Nunito"/>
              </a:rPr>
              <a:t>Identidad única para cada artículo</a:t>
            </a:r>
            <a:endParaRPr b="1" sz="1600">
              <a:solidFill>
                <a:srgbClr val="22C55E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s-419" sz="15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Vincule sus activos físicos con tokens digitales infalsificables respaldados por la red Stellar.</a:t>
            </a:r>
            <a:endParaRPr b="0" sz="1500">
              <a:solidFill>
                <a:srgbClr val="A0A0AB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78" name="Google Shape;78;p16"/>
          <p:cNvPicPr preferRelativeResize="0"/>
          <p:nvPr/>
        </p:nvPicPr>
        <p:blipFill rotWithShape="1">
          <a:blip r:embed="rId4">
            <a:alphaModFix/>
          </a:blip>
          <a:srcRect b="357" l="0" r="0" t="357"/>
          <a:stretch/>
        </p:blipFill>
        <p:spPr>
          <a:xfrm>
            <a:off x="4476750" y="333375"/>
            <a:ext cx="3238500" cy="447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6"/>
          <p:cNvPicPr preferRelativeResize="0"/>
          <p:nvPr/>
        </p:nvPicPr>
        <p:blipFill rotWithShape="1">
          <a:blip r:embed="rId5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/>
          <p:cNvSpPr txBox="1"/>
          <p:nvPr/>
        </p:nvSpPr>
        <p:spPr>
          <a:xfrm>
            <a:off x="1542550" y="598475"/>
            <a:ext cx="4565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17"/>
          <p:cNvGrpSpPr/>
          <p:nvPr/>
        </p:nvGrpSpPr>
        <p:grpSpPr>
          <a:xfrm>
            <a:off x="571500" y="457200"/>
            <a:ext cx="1295400" cy="285900"/>
            <a:chOff x="0" y="0"/>
            <a:chExt cx="1295400" cy="285900"/>
          </a:xfrm>
        </p:grpSpPr>
        <p:sp>
          <p:nvSpPr>
            <p:cNvPr id="86" name="Google Shape;86;p17"/>
            <p:cNvSpPr/>
            <p:nvPr/>
          </p:nvSpPr>
          <p:spPr>
            <a:xfrm>
              <a:off x="0" y="0"/>
              <a:ext cx="1295400" cy="2859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7"/>
            <p:cNvSpPr txBox="1"/>
            <p:nvPr/>
          </p:nvSpPr>
          <p:spPr>
            <a:xfrm>
              <a:off x="0" y="0"/>
              <a:ext cx="1295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NUESTRA SOLUCIÓN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</p:grpSp>
      <p:sp>
        <p:nvSpPr>
          <p:cNvPr id="88" name="Google Shape;88;p17"/>
          <p:cNvSpPr txBox="1"/>
          <p:nvPr/>
        </p:nvSpPr>
        <p:spPr>
          <a:xfrm>
            <a:off x="615325" y="1491975"/>
            <a:ext cx="2840700" cy="26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3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UN TOKEN DOS </a:t>
            </a:r>
            <a:r>
              <a:rPr lang="es-419" sz="23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QR</a:t>
            </a:r>
            <a:endParaRPr sz="2300">
              <a:solidFill>
                <a:srgbClr val="FF3B4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Uno </a:t>
            </a:r>
            <a:r>
              <a:rPr lang="es-419" sz="1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público</a:t>
            </a:r>
            <a:r>
              <a:rPr lang="es-419" sz="1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 y otro secreto </a:t>
            </a:r>
            <a:endParaRPr sz="1800">
              <a:solidFill>
                <a:srgbClr val="FF3B4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6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Información</a:t>
            </a:r>
            <a:r>
              <a:rPr lang="es-419" sz="16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importante para el cliente y la tranquilidad de un producto </a:t>
            </a:r>
            <a:r>
              <a:rPr lang="es-419" sz="16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original</a:t>
            </a:r>
            <a:r>
              <a:rPr lang="es-419" sz="16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endParaRPr sz="1800">
              <a:solidFill>
                <a:srgbClr val="A0A0A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89" name="Google Shape;89;p17" title="VefireLogit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17250" y="-319625"/>
            <a:ext cx="5535575" cy="5519179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7"/>
          <p:cNvPicPr preferRelativeResize="0"/>
          <p:nvPr/>
        </p:nvPicPr>
        <p:blipFill rotWithShape="1">
          <a:blip r:embed="rId4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/>
          <p:nvPr/>
        </p:nvSpPr>
        <p:spPr>
          <a:xfrm>
            <a:off x="353550" y="1125025"/>
            <a:ext cx="3699900" cy="20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000">
                <a:solidFill>
                  <a:srgbClr val="E50914"/>
                </a:solidFill>
                <a:latin typeface="Nunito"/>
                <a:ea typeface="Nunito"/>
                <a:cs typeface="Nunito"/>
                <a:sym typeface="Nunito"/>
              </a:rPr>
              <a:t>Claimea</a:t>
            </a:r>
            <a:r>
              <a:rPr lang="es-419" sz="30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tu producto</a:t>
            </a:r>
            <a:endParaRPr sz="30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4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Será</a:t>
            </a:r>
            <a:r>
              <a:rPr lang="es-419" sz="2400">
                <a:solidFill>
                  <a:srgbClr val="38761D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b="1" lang="es-419" sz="2500">
                <a:solidFill>
                  <a:srgbClr val="38761D"/>
                </a:solidFill>
                <a:latin typeface="Nunito"/>
                <a:ea typeface="Nunito"/>
                <a:cs typeface="Nunito"/>
                <a:sym typeface="Nunito"/>
              </a:rPr>
              <a:t>tuyo</a:t>
            </a:r>
            <a:r>
              <a:rPr lang="es-419" sz="2500">
                <a:solidFill>
                  <a:srgbClr val="38761D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s-419" sz="24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y solo para</a:t>
            </a:r>
            <a:r>
              <a:rPr lang="es-419" sz="2400">
                <a:solidFill>
                  <a:srgbClr val="38761D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s-419" sz="24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vos</a:t>
            </a:r>
            <a:endParaRPr sz="24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Más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otras funciones</a:t>
            </a:r>
            <a:r>
              <a:rPr lang="es-419" sz="30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como la 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activación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de 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garantías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mediante el mismo claimeo</a:t>
            </a:r>
            <a:r>
              <a:rPr lang="es-419" sz="19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endParaRPr sz="1900"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96" name="Google Shape;9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31850" y="672763"/>
            <a:ext cx="3488900" cy="298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8"/>
          <p:cNvPicPr preferRelativeResize="0"/>
          <p:nvPr/>
        </p:nvPicPr>
        <p:blipFill rotWithShape="1">
          <a:blip r:embed="rId4">
            <a:alphaModFix/>
          </a:blip>
          <a:srcRect b="-3330" l="740" r="-740" t="3330"/>
          <a:stretch/>
        </p:blipFill>
        <p:spPr>
          <a:xfrm>
            <a:off x="4400650" y="3322800"/>
            <a:ext cx="3699774" cy="102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8"/>
          <p:cNvPicPr preferRelativeResize="0"/>
          <p:nvPr/>
        </p:nvPicPr>
        <p:blipFill rotWithShape="1">
          <a:blip r:embed="rId5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9" name="Google Shape;99;p18"/>
          <p:cNvGrpSpPr/>
          <p:nvPr/>
        </p:nvGrpSpPr>
        <p:grpSpPr>
          <a:xfrm>
            <a:off x="571500" y="457200"/>
            <a:ext cx="1295400" cy="285900"/>
            <a:chOff x="0" y="0"/>
            <a:chExt cx="1295400" cy="285900"/>
          </a:xfrm>
        </p:grpSpPr>
        <p:sp>
          <p:nvSpPr>
            <p:cNvPr id="100" name="Google Shape;100;p18"/>
            <p:cNvSpPr/>
            <p:nvPr/>
          </p:nvSpPr>
          <p:spPr>
            <a:xfrm>
              <a:off x="0" y="0"/>
              <a:ext cx="1295400" cy="2859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18"/>
            <p:cNvSpPr txBox="1"/>
            <p:nvPr/>
          </p:nvSpPr>
          <p:spPr>
            <a:xfrm>
              <a:off x="0" y="0"/>
              <a:ext cx="1295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NUESTRA SOLUCIÓN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/>
          <p:nvPr/>
        </p:nvSpPr>
        <p:spPr>
          <a:xfrm>
            <a:off x="572726" y="1494300"/>
            <a:ext cx="3835800" cy="21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Verifire para empresas</a:t>
            </a:r>
            <a:endParaRPr sz="2800">
              <a:solidFill>
                <a:srgbClr val="FF3B4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un entorno hecho para empresas, mejores herramientas y </a:t>
            </a:r>
            <a:r>
              <a:rPr lang="es-419" sz="25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más</a:t>
            </a:r>
            <a:r>
              <a:rPr lang="es-419" sz="25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detalladas</a:t>
            </a:r>
            <a:endParaRPr sz="2500">
              <a:solidFill>
                <a:srgbClr val="A0A0AB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grpSp>
        <p:nvGrpSpPr>
          <p:cNvPr id="107" name="Google Shape;107;p19"/>
          <p:cNvGrpSpPr/>
          <p:nvPr/>
        </p:nvGrpSpPr>
        <p:grpSpPr>
          <a:xfrm>
            <a:off x="690750" y="735375"/>
            <a:ext cx="1295400" cy="285900"/>
            <a:chOff x="0" y="0"/>
            <a:chExt cx="1295400" cy="285900"/>
          </a:xfrm>
        </p:grpSpPr>
        <p:sp>
          <p:nvSpPr>
            <p:cNvPr id="108" name="Google Shape;108;p19"/>
            <p:cNvSpPr/>
            <p:nvPr/>
          </p:nvSpPr>
          <p:spPr>
            <a:xfrm>
              <a:off x="0" y="0"/>
              <a:ext cx="1295400" cy="2859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9"/>
            <p:cNvSpPr txBox="1"/>
            <p:nvPr/>
          </p:nvSpPr>
          <p:spPr>
            <a:xfrm>
              <a:off x="0" y="0"/>
              <a:ext cx="1295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NUESTRA SOLUCIÓN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</p:grpSp>
      <p:pic>
        <p:nvPicPr>
          <p:cNvPr id="110" name="Google Shape;11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7225" y="1105400"/>
            <a:ext cx="4381401" cy="293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9"/>
          <p:cNvPicPr preferRelativeResize="0"/>
          <p:nvPr/>
        </p:nvPicPr>
        <p:blipFill rotWithShape="1">
          <a:blip r:embed="rId4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oogle Shape;116;p20"/>
          <p:cNvGrpSpPr/>
          <p:nvPr/>
        </p:nvGrpSpPr>
        <p:grpSpPr>
          <a:xfrm>
            <a:off x="571500" y="457200"/>
            <a:ext cx="8001000" cy="819300"/>
            <a:chOff x="0" y="0"/>
            <a:chExt cx="8001000" cy="819300"/>
          </a:xfrm>
        </p:grpSpPr>
        <p:sp>
          <p:nvSpPr>
            <p:cNvPr id="117" name="Google Shape;117;p20"/>
            <p:cNvSpPr/>
            <p:nvPr/>
          </p:nvSpPr>
          <p:spPr>
            <a:xfrm>
              <a:off x="0" y="0"/>
              <a:ext cx="1409700" cy="2667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20"/>
            <p:cNvSpPr txBox="1"/>
            <p:nvPr/>
          </p:nvSpPr>
          <p:spPr>
            <a:xfrm>
              <a:off x="0" y="0"/>
              <a:ext cx="14097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MODELO DE NEGOCIO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  <p:sp>
          <p:nvSpPr>
            <p:cNvPr id="119" name="Google Shape;119;p20"/>
            <p:cNvSpPr txBox="1"/>
            <p:nvPr/>
          </p:nvSpPr>
          <p:spPr>
            <a:xfrm>
              <a:off x="0" y="342900"/>
              <a:ext cx="8001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2600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Cobro B2B por producto registrado</a:t>
              </a:r>
              <a:endParaRPr b="1" sz="26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grpSp>
        <p:nvGrpSpPr>
          <p:cNvPr id="120" name="Google Shape;120;p20"/>
          <p:cNvGrpSpPr/>
          <p:nvPr/>
        </p:nvGrpSpPr>
        <p:grpSpPr>
          <a:xfrm>
            <a:off x="571500" y="1524000"/>
            <a:ext cx="3810000" cy="2476500"/>
            <a:chOff x="0" y="0"/>
            <a:chExt cx="3810000" cy="2476500"/>
          </a:xfrm>
        </p:grpSpPr>
        <p:sp>
          <p:nvSpPr>
            <p:cNvPr id="121" name="Google Shape;121;p20"/>
            <p:cNvSpPr/>
            <p:nvPr/>
          </p:nvSpPr>
          <p:spPr>
            <a:xfrm>
              <a:off x="0" y="0"/>
              <a:ext cx="3810000" cy="2476500"/>
            </a:xfrm>
            <a:prstGeom prst="roundRect">
              <a:avLst>
                <a:gd fmla="val 6153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20"/>
            <p:cNvSpPr/>
            <p:nvPr/>
          </p:nvSpPr>
          <p:spPr>
            <a:xfrm>
              <a:off x="228600" y="0"/>
              <a:ext cx="5715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20"/>
            <p:cNvSpPr txBox="1"/>
            <p:nvPr/>
          </p:nvSpPr>
          <p:spPr>
            <a:xfrm>
              <a:off x="228600" y="228600"/>
              <a:ext cx="3352800" cy="20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1000">
                  <a:solidFill>
                    <a:srgbClr val="8E8E93"/>
                  </a:solidFill>
                  <a:latin typeface="Nunito"/>
                  <a:ea typeface="Nunito"/>
                  <a:cs typeface="Nunito"/>
                  <a:sym typeface="Nunito"/>
                </a:rPr>
                <a:t>PRECIO DE VENTA</a:t>
              </a:r>
              <a:endParaRPr b="1" sz="1000">
                <a:solidFill>
                  <a:srgbClr val="8E8E93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s-419" sz="44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0,025</a:t>
              </a:r>
              <a:r>
                <a:rPr b="0" lang="es-419" sz="4400">
                  <a:solidFill>
                    <a:srgbClr val="FFFFFF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 - 0,25</a:t>
              </a:r>
              <a:endParaRPr b="0" sz="44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500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Rango por unidad</a:t>
              </a:r>
              <a:endParaRPr b="1" sz="15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1100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Tarifa B2B escalable según volumen de registro por cliente.</a:t>
              </a:r>
              <a:endParaRPr b="0" sz="1100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grpSp>
        <p:nvGrpSpPr>
          <p:cNvPr id="124" name="Google Shape;124;p20"/>
          <p:cNvGrpSpPr/>
          <p:nvPr/>
        </p:nvGrpSpPr>
        <p:grpSpPr>
          <a:xfrm>
            <a:off x="4762500" y="1524000"/>
            <a:ext cx="3810000" cy="2476500"/>
            <a:chOff x="0" y="0"/>
            <a:chExt cx="3810000" cy="2476500"/>
          </a:xfrm>
        </p:grpSpPr>
        <p:sp>
          <p:nvSpPr>
            <p:cNvPr id="125" name="Google Shape;125;p20"/>
            <p:cNvSpPr/>
            <p:nvPr/>
          </p:nvSpPr>
          <p:spPr>
            <a:xfrm>
              <a:off x="0" y="0"/>
              <a:ext cx="3810000" cy="2476500"/>
            </a:xfrm>
            <a:prstGeom prst="roundRect">
              <a:avLst>
                <a:gd fmla="val 6153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20"/>
            <p:cNvSpPr/>
            <p:nvPr/>
          </p:nvSpPr>
          <p:spPr>
            <a:xfrm>
              <a:off x="228600" y="0"/>
              <a:ext cx="5715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20"/>
            <p:cNvSpPr txBox="1"/>
            <p:nvPr/>
          </p:nvSpPr>
          <p:spPr>
            <a:xfrm>
              <a:off x="228600" y="228600"/>
              <a:ext cx="3352800" cy="20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1000">
                  <a:solidFill>
                    <a:srgbClr val="8E8E93"/>
                  </a:solidFill>
                  <a:latin typeface="Nunito"/>
                  <a:ea typeface="Nunito"/>
                  <a:cs typeface="Nunito"/>
                  <a:sym typeface="Nunito"/>
                </a:rPr>
                <a:t>COSTO OPERATIVO</a:t>
              </a:r>
              <a:endParaRPr b="1" sz="1000">
                <a:solidFill>
                  <a:srgbClr val="8E8E93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s-419" sz="44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&lt; $0,003</a:t>
              </a:r>
              <a:endParaRPr b="0" sz="44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500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Costo de red Stellar</a:t>
              </a:r>
              <a:endParaRPr b="1" sz="15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1100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Costo transaccional mínimo</a:t>
              </a:r>
              <a:endParaRPr b="0" sz="1100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pic>
        <p:nvPicPr>
          <p:cNvPr id="128" name="Google Shape;128;p20"/>
          <p:cNvPicPr preferRelativeResize="0"/>
          <p:nvPr/>
        </p:nvPicPr>
        <p:blipFill rotWithShape="1">
          <a:blip r:embed="rId3">
            <a:alphaModFix/>
          </a:blip>
          <a:srcRect b="10" l="179" r="189" t="1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21"/>
          <p:cNvGrpSpPr/>
          <p:nvPr/>
        </p:nvGrpSpPr>
        <p:grpSpPr>
          <a:xfrm>
            <a:off x="571500" y="342900"/>
            <a:ext cx="8001000" cy="705000"/>
            <a:chOff x="0" y="0"/>
            <a:chExt cx="8001000" cy="705000"/>
          </a:xfrm>
        </p:grpSpPr>
        <p:sp>
          <p:nvSpPr>
            <p:cNvPr id="134" name="Google Shape;134;p21"/>
            <p:cNvSpPr/>
            <p:nvPr/>
          </p:nvSpPr>
          <p:spPr>
            <a:xfrm>
              <a:off x="0" y="0"/>
              <a:ext cx="1524000" cy="2478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21"/>
            <p:cNvSpPr txBox="1"/>
            <p:nvPr/>
          </p:nvSpPr>
          <p:spPr>
            <a:xfrm>
              <a:off x="0" y="0"/>
              <a:ext cx="15240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786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ESTRATEGIA GO-TO-MARKET</a:t>
              </a:r>
              <a:endParaRPr sz="1085"/>
            </a:p>
          </p:txBody>
        </p:sp>
        <p:sp>
          <p:nvSpPr>
            <p:cNvPr id="136" name="Google Shape;136;p21"/>
            <p:cNvSpPr txBox="1"/>
            <p:nvPr/>
          </p:nvSpPr>
          <p:spPr>
            <a:xfrm>
              <a:off x="0" y="304800"/>
              <a:ext cx="800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2200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Estrategia de Entrada y Escalamiento</a:t>
              </a:r>
              <a:endParaRPr sz="1085"/>
            </a:p>
          </p:txBody>
        </p:sp>
      </p:grpSp>
      <p:grpSp>
        <p:nvGrpSpPr>
          <p:cNvPr id="137" name="Google Shape;137;p21"/>
          <p:cNvGrpSpPr/>
          <p:nvPr/>
        </p:nvGrpSpPr>
        <p:grpSpPr>
          <a:xfrm>
            <a:off x="571500" y="1428750"/>
            <a:ext cx="1619100" cy="2571900"/>
            <a:chOff x="0" y="0"/>
            <a:chExt cx="1619100" cy="2571900"/>
          </a:xfrm>
        </p:grpSpPr>
        <p:sp>
          <p:nvSpPr>
            <p:cNvPr id="138" name="Google Shape;138;p21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9411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21"/>
            <p:cNvSpPr/>
            <p:nvPr/>
          </p:nvSpPr>
          <p:spPr>
            <a:xfrm>
              <a:off x="190500" y="0"/>
              <a:ext cx="3810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21"/>
            <p:cNvSpPr txBox="1"/>
            <p:nvPr/>
          </p:nvSpPr>
          <p:spPr>
            <a:xfrm>
              <a:off x="190500" y="190500"/>
              <a:ext cx="12384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62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1. DISPARADOR</a:t>
              </a:r>
              <a:endParaRPr b="0" sz="62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217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INV 2026</a:t>
              </a:r>
              <a:endParaRPr b="0" sz="217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085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Normativa</a:t>
              </a:r>
              <a:endParaRPr b="1" sz="1085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775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Trazabilidad obligatoria por lote para exportación.</a:t>
              </a:r>
              <a:endParaRPr b="0" sz="775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grpSp>
        <p:nvGrpSpPr>
          <p:cNvPr id="141" name="Google Shape;141;p21"/>
          <p:cNvGrpSpPr/>
          <p:nvPr/>
        </p:nvGrpSpPr>
        <p:grpSpPr>
          <a:xfrm>
            <a:off x="2381250" y="1428750"/>
            <a:ext cx="1619100" cy="2571900"/>
            <a:chOff x="0" y="0"/>
            <a:chExt cx="1619100" cy="2571900"/>
          </a:xfrm>
        </p:grpSpPr>
        <p:sp>
          <p:nvSpPr>
            <p:cNvPr id="142" name="Google Shape;142;p21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9411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21"/>
            <p:cNvSpPr/>
            <p:nvPr/>
          </p:nvSpPr>
          <p:spPr>
            <a:xfrm>
              <a:off x="190500" y="0"/>
              <a:ext cx="3810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1"/>
            <p:cNvSpPr txBox="1"/>
            <p:nvPr/>
          </p:nvSpPr>
          <p:spPr>
            <a:xfrm>
              <a:off x="190500" y="190500"/>
              <a:ext cx="12384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62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2. PILOTO (SALTA)</a:t>
              </a:r>
              <a:endParaRPr b="0" sz="62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217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Cafayate</a:t>
              </a:r>
              <a:endParaRPr b="0" sz="217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085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Validación</a:t>
              </a:r>
              <a:endParaRPr b="1" sz="1085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775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Validación cara a cara con bodegas locales.</a:t>
              </a:r>
              <a:endParaRPr b="0" sz="775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grpSp>
        <p:nvGrpSpPr>
          <p:cNvPr id="145" name="Google Shape;145;p21"/>
          <p:cNvGrpSpPr/>
          <p:nvPr/>
        </p:nvGrpSpPr>
        <p:grpSpPr>
          <a:xfrm>
            <a:off x="4191000" y="1428750"/>
            <a:ext cx="1619100" cy="2571900"/>
            <a:chOff x="0" y="0"/>
            <a:chExt cx="1619100" cy="2571900"/>
          </a:xfrm>
        </p:grpSpPr>
        <p:sp>
          <p:nvSpPr>
            <p:cNvPr id="146" name="Google Shape;146;p21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9411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21"/>
            <p:cNvSpPr/>
            <p:nvPr/>
          </p:nvSpPr>
          <p:spPr>
            <a:xfrm>
              <a:off x="190500" y="0"/>
              <a:ext cx="3810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21"/>
            <p:cNvSpPr txBox="1"/>
            <p:nvPr/>
          </p:nvSpPr>
          <p:spPr>
            <a:xfrm>
              <a:off x="190500" y="190500"/>
              <a:ext cx="12384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62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3. ESCALAMIENTO</a:t>
              </a:r>
              <a:endParaRPr b="0" sz="62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217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Marcas</a:t>
              </a:r>
              <a:endParaRPr b="0" sz="217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085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Expansión</a:t>
              </a:r>
              <a:endParaRPr b="1" sz="1085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775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Distribución masiva y grandes fabricantes.</a:t>
              </a:r>
              <a:endParaRPr b="0" sz="775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1" title="bodegas-lavaque-3-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0750" y="1480100"/>
            <a:ext cx="2881426" cy="24692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14300">
            <a:solidFill>
              <a:srgbClr val="261418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 txBox="1"/>
          <p:nvPr/>
        </p:nvSpPr>
        <p:spPr>
          <a:xfrm>
            <a:off x="577750" y="321775"/>
            <a:ext cx="798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Github</a:t>
            </a:r>
            <a:endParaRPr b="1" sz="1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56" name="Google Shape;15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7375" y="1330573"/>
            <a:ext cx="3852624" cy="273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48250" y="947438"/>
            <a:ext cx="3248625" cy="3248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2"/>
          <p:cNvPicPr preferRelativeResize="0"/>
          <p:nvPr/>
        </p:nvPicPr>
        <p:blipFill rotWithShape="1">
          <a:blip r:embed="rId5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3"/>
          <p:cNvSpPr txBox="1"/>
          <p:nvPr/>
        </p:nvSpPr>
        <p:spPr>
          <a:xfrm>
            <a:off x="577750" y="321775"/>
            <a:ext cx="798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 u="sng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Demo Link</a:t>
            </a:r>
            <a:endParaRPr b="1" sz="1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64" name="Google Shape;164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4225" y="968575"/>
            <a:ext cx="3059974" cy="3206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42200" y="1005175"/>
            <a:ext cx="3133150" cy="313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3"/>
          <p:cNvPicPr preferRelativeResize="0"/>
          <p:nvPr/>
        </p:nvPicPr>
        <p:blipFill rotWithShape="1">
          <a:blip r:embed="rId6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 txBox="1"/>
          <p:nvPr/>
        </p:nvSpPr>
        <p:spPr>
          <a:xfrm>
            <a:off x="2578500" y="2958113"/>
            <a:ext cx="3987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Thank you!</a:t>
            </a:r>
            <a:endParaRPr b="1" sz="1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2" name="Google Shape;172;p24"/>
          <p:cNvSpPr/>
          <p:nvPr/>
        </p:nvSpPr>
        <p:spPr>
          <a:xfrm>
            <a:off x="1573588" y="1433525"/>
            <a:ext cx="5838600" cy="1524600"/>
          </a:xfrm>
          <a:prstGeom prst="flowChartAlternateProcess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73" name="Google Shape;173;p24"/>
          <p:cNvPicPr preferRelativeResize="0"/>
          <p:nvPr/>
        </p:nvPicPr>
        <p:blipFill rotWithShape="1">
          <a:blip r:embed="rId3">
            <a:alphaModFix/>
          </a:blip>
          <a:srcRect b="24824" l="2723" r="4650" t="17446"/>
          <a:stretch/>
        </p:blipFill>
        <p:spPr>
          <a:xfrm>
            <a:off x="1573575" y="1461125"/>
            <a:ext cx="5996826" cy="146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